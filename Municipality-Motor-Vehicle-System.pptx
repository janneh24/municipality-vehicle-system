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86" r:id="rId3"/>
    <p:sldId id="258" r:id="rId5"/>
    <p:sldId id="259" r:id="rId6"/>
    <p:sldId id="260" r:id="rId7"/>
    <p:sldId id="297" r:id="rId8"/>
    <p:sldId id="298" r:id="rId9"/>
    <p:sldId id="261" r:id="rId10"/>
    <p:sldId id="262" r:id="rId11"/>
    <p:sldId id="263" r:id="rId12"/>
    <p:sldId id="287" r:id="rId13"/>
    <p:sldId id="289" r:id="rId14"/>
    <p:sldId id="264" r:id="rId15"/>
    <p:sldId id="290" r:id="rId16"/>
    <p:sldId id="267" r:id="rId17"/>
    <p:sldId id="269" r:id="rId18"/>
    <p:sldId id="284" r:id="rId19"/>
    <p:sldId id="271" r:id="rId20"/>
    <p:sldId id="300" r:id="rId21"/>
    <p:sldId id="273" r:id="rId22"/>
    <p:sldId id="275" r:id="rId23"/>
    <p:sldId id="277" r:id="rId24"/>
    <p:sldId id="279" r:id="rId25"/>
    <p:sldId id="283" r:id="rId26"/>
  </p:sldIdLst>
  <p:sldSz cx="9144000" cy="5143500"/>
  <p:notesSz cx="5143500" cy="9144000"/>
  <p:embeddedFontLst>
    <p:embeddedFont>
      <p:font typeface="SimSun" panose="02010600030101010101" pitchFamily="2" charset="-122"/>
      <p:regular r:id="rId30"/>
    </p:embeddedFont>
    <p:embeddedFont>
      <p:font typeface="Playfair Display SemiBold" pitchFamily="34" charset="0"/>
      <p:bold r:id="rId31"/>
    </p:embeddedFont>
    <p:embeddedFont>
      <p:font typeface="Playfair Display SemiBold" pitchFamily="34" charset="-122"/>
      <p:bold r:id="rId32"/>
    </p:embeddedFont>
    <p:embeddedFont>
      <p:font typeface="Playfair Display SemiBold" pitchFamily="34" charset="-120"/>
      <p:bold r:id="rId33"/>
    </p:embeddedFont>
    <p:embeddedFont>
      <p:font typeface="Public Sans" pitchFamily="34" charset="0"/>
      <p:regular r:id="rId34"/>
    </p:embeddedFont>
    <p:embeddedFont>
      <p:font typeface="Public Sans" pitchFamily="34" charset="-122"/>
      <p:regular r:id="rId35"/>
    </p:embeddedFont>
    <p:embeddedFont>
      <p:font typeface="Public Sans" pitchFamily="34" charset="-120"/>
      <p:regular r:id="rId36"/>
    </p:embeddedFont>
    <p:embeddedFont>
      <p:font typeface="Consolas" panose="020B060902020403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34" charset="-122"/>
      <p:regular r:id="rId41"/>
    </p:embeddedFont>
    <p:embeddedFont>
      <p:font typeface="Consolas" panose="020B0609020204030204" pitchFamily="34" charset="-120"/>
      <p:regular r:id="rId42"/>
    </p:embeddedFont>
    <p:embeddedFont>
      <p:font typeface="Calibri" panose="020F0502020204030204" charset="0"/>
      <p:regular r:id="rId43"/>
      <p:bold r:id="rId44"/>
      <p:italic r:id="rId45"/>
      <p:boldItalic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font" Target="fonts/font17.fntdata"/><Relationship Id="rId45" Type="http://schemas.openxmlformats.org/officeDocument/2006/relationships/font" Target="fonts/font16.fntdata"/><Relationship Id="rId44" Type="http://schemas.openxmlformats.org/officeDocument/2006/relationships/font" Target="fonts/font15.fntdata"/><Relationship Id="rId43" Type="http://schemas.openxmlformats.org/officeDocument/2006/relationships/font" Target="fonts/font14.fntdata"/><Relationship Id="rId42" Type="http://schemas.openxmlformats.org/officeDocument/2006/relationships/font" Target="fonts/font13.fntdata"/><Relationship Id="rId41" Type="http://schemas.openxmlformats.org/officeDocument/2006/relationships/font" Target="fonts/font12.fntdata"/><Relationship Id="rId40" Type="http://schemas.openxmlformats.org/officeDocument/2006/relationships/font" Target="fonts/font11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0.fntdata"/><Relationship Id="rId38" Type="http://schemas.openxmlformats.org/officeDocument/2006/relationships/font" Target="fonts/font9.fntdata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3D971-BD08-4105-986D-4E62801DB79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5293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399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svg"/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4.svg"/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1.sv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0.svg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33.png"/><Relationship Id="rId2" Type="http://schemas.openxmlformats.org/officeDocument/2006/relationships/image" Target="../media/image1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2.svg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svg"/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0.svg"/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3.svg"/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sv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svg"/><Relationship Id="rId3" Type="http://schemas.openxmlformats.org/officeDocument/2006/relationships/image" Target="../media/image56.svg"/><Relationship Id="rId2" Type="http://schemas.openxmlformats.org/officeDocument/2006/relationships/image" Target="../media/image55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8043" y="316706"/>
            <a:ext cx="4747766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Municipality Motor Vehicle System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8736" y="822052"/>
            <a:ext cx="794645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B05B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Modern 3-Tier Web Application for Urban Vehicle Registry and Traffic Enforcement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27336" y="1095896"/>
            <a:ext cx="7489254" cy="8111"/>
          </a:xfrm>
          <a:prstGeom prst="rect">
            <a:avLst/>
          </a:prstGeom>
          <a:solidFill>
            <a:srgbClr val="6F655D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827336" y="1318022"/>
            <a:ext cx="1108621" cy="187672"/>
          </a:xfrm>
          <a:prstGeom prst="roundRect">
            <a:avLst>
              <a:gd name="adj" fmla="val 19433"/>
            </a:avLst>
          </a:prstGeom>
          <a:solidFill>
            <a:srgbClr val="EEDDDD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48" y="1368475"/>
            <a:ext cx="86767" cy="867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598" y="1350541"/>
            <a:ext cx="1305446" cy="122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PROJECT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27336" y="1538883"/>
            <a:ext cx="2628007" cy="2713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7336" y="1893243"/>
            <a:ext cx="3999905" cy="11478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presentation introduces the </a:t>
            </a:r>
            <a:r>
              <a:rPr lang="en-US" sz="8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Municipality Motor Vehicle System</a:t>
            </a: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 fully architected 3-tier web application designed to modernize urban vehicle registration and streamline traffic enforcement operations for municipal governments.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with a focus on scalability, maintainability, and real-world applicability, the system demonstrates core principles of modern software architecture applied to a civic technology context.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18633" y="1224558"/>
            <a:ext cx="3380780" cy="1891308"/>
          </a:xfrm>
          <a:prstGeom prst="roundRect">
            <a:avLst>
              <a:gd name="adj" fmla="val 4132"/>
            </a:avLst>
          </a:prstGeom>
          <a:solidFill>
            <a:srgbClr val="E1C2C2"/>
          </a:solidFill>
        </p:spPr>
        <p:txBody>
          <a:bodyPr/>
          <a:p>
            <a:endParaRPr lang="en-GB" altLang="en-US"/>
          </a:p>
        </p:txBody>
      </p:sp>
      <p:sp>
        <p:nvSpPr>
          <p:cNvPr id="11" name="Text 8"/>
          <p:cNvSpPr/>
          <p:nvPr/>
        </p:nvSpPr>
        <p:spPr>
          <a:xfrm>
            <a:off x="5127129" y="1307604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27129" y="1631677"/>
            <a:ext cx="3163788" cy="8111"/>
          </a:xfrm>
          <a:prstGeom prst="rect">
            <a:avLst/>
          </a:prstGeom>
          <a:solidFill>
            <a:srgbClr val="000000">
              <a:alpha val="5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5127129" y="1760339"/>
            <a:ext cx="18139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System Focus Areas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27129" y="2012900"/>
            <a:ext cx="3163788" cy="700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Urban Vehicle Registry Management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Traffic Enforcement Workflows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3-Tier Web Architecture Design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Scalable Municipal Infrastructure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048" y="3209330"/>
            <a:ext cx="2455292" cy="7715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2981" y="3332113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Course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92981" y="3551486"/>
            <a:ext cx="2152576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Software Architectures &amp; Methodologies (SWAM)</a:t>
            </a:r>
            <a:endParaRPr lang="en-US" sz="8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099" y="3209330"/>
            <a:ext cx="2455366" cy="7715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17032" y="3332113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Affiliation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517032" y="3551486"/>
            <a:ext cx="2152650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University of Florence — Master's Degree in Computer Science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1224" y="3209330"/>
            <a:ext cx="2455366" cy="7715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41157" y="3332113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041157" y="3551486"/>
            <a:ext cx="2152650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February 2026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27336" y="4074319"/>
            <a:ext cx="3703067" cy="752475"/>
          </a:xfrm>
          <a:prstGeom prst="roundRect">
            <a:avLst>
              <a:gd name="adj" fmla="val 6058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397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40594" y="4187577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Essa Janneh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40594" y="4406950"/>
            <a:ext cx="3476551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Co-Author &amp; Presenter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University of Florence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13449" y="4074319"/>
            <a:ext cx="3703141" cy="752475"/>
          </a:xfrm>
          <a:prstGeom prst="roundRect">
            <a:avLst>
              <a:gd name="adj" fmla="val 6058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397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726707" y="4187577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Syed Umair Anwar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726707" y="4406950"/>
            <a:ext cx="3476625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Co-Author &amp; Presenter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University of Florence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2461"/>
            <a:ext cx="5312346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Context &amp; 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8966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Municipal vehicle management systems face critical structural challenges that hinder effective urban governance and traffic enforcement.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862063"/>
            <a:ext cx="4024015" cy="1308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202287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Legacy Challenge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329383"/>
            <a:ext cx="362619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Fragmented, paper-reliant, or outdated local municipal vehicle records and static parking oversight leave cities unable to respond dynamically to modern demands.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862063"/>
            <a:ext cx="4024089" cy="13085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60801" y="2022872"/>
            <a:ext cx="19518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Enforcement Blindspots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60801" y="2329383"/>
            <a:ext cx="3626272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Traffic officers lack immediate, real-time channels to verify zone-specific parking permissions on-site, reducing enforcement accuracy and efficiency.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312393"/>
            <a:ext cx="4024015" cy="13085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077" y="347320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Silos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4077" y="3779713"/>
            <a:ext cx="362619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Lack of automated data consistency between a citizen's residential area, their active vehicle inventory, and historic traffic citations creates operational gaps.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3792" y="3312393"/>
            <a:ext cx="4024089" cy="13085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60801" y="347320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Goal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60801" y="3779713"/>
            <a:ext cx="3626272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secure, scalable, and responsive web platform utilizing enterprise architecture patterns to streamline municipal management end-to-end.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501104"/>
            <a:ext cx="4722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Target Stakeholders &amp; User Personas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45853"/>
            <a:ext cx="4722763" cy="326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system is designed around three distinct user roles, each with tailored capabilities and access levels.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774403"/>
            <a:ext cx="2315989" cy="1551905"/>
          </a:xfrm>
          <a:prstGeom prst="roundRect">
            <a:avLst>
              <a:gd name="adj" fmla="val 3069"/>
            </a:avLst>
          </a:prstGeom>
          <a:solidFill>
            <a:srgbClr val="F0DEDC"/>
          </a:solidFill>
          <a:ln w="4763">
            <a:solidFill>
              <a:srgbClr val="E1C2C2"/>
            </a:solidFill>
            <a:prstDash val="solid"/>
          </a:ln>
          <a:effectLst>
            <a:outerShdw dist="1397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4288" y="1892573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E1C2C2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827" y="1986111"/>
            <a:ext cx="153070" cy="1530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288" y="2323505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Citizen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4288" y="2555081"/>
            <a:ext cx="2079650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 register personal vehicles, request and purchase parking passes aligned with specific municipal zones, and self-review violation history.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902818" y="1774403"/>
            <a:ext cx="2316063" cy="1551905"/>
          </a:xfrm>
          <a:prstGeom prst="roundRect">
            <a:avLst>
              <a:gd name="adj" fmla="val 3069"/>
            </a:avLst>
          </a:prstGeom>
          <a:solidFill>
            <a:srgbClr val="F0DEDC"/>
          </a:solidFill>
          <a:ln w="4763">
            <a:solidFill>
              <a:srgbClr val="CCC4EC"/>
            </a:solidFill>
            <a:prstDash val="solid"/>
          </a:ln>
          <a:effectLst>
            <a:outerShdw dist="1397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20988" y="1892573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CCC4EC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4526" y="1986111"/>
            <a:ext cx="153070" cy="1530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20988" y="2323505"/>
            <a:ext cx="162349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Law Enforcement Officer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020988" y="2555081"/>
            <a:ext cx="2079724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Operates in the field to check license plate validity instantly and issue electronic citations linked to precise geographical zones.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96119" y="3417019"/>
            <a:ext cx="4722763" cy="1225376"/>
          </a:xfrm>
          <a:prstGeom prst="roundRect">
            <a:avLst>
              <a:gd name="adj" fmla="val 3887"/>
            </a:avLst>
          </a:prstGeom>
          <a:solidFill>
            <a:srgbClr val="F0DEDC"/>
          </a:solidFill>
          <a:ln w="4763">
            <a:solidFill>
              <a:srgbClr val="B4DAE4"/>
            </a:solidFill>
            <a:prstDash val="solid"/>
          </a:ln>
          <a:effectLst>
            <a:outerShdw dist="1397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4288" y="3535189"/>
            <a:ext cx="340221" cy="340221"/>
          </a:xfrm>
          <a:prstGeom prst="roundRect">
            <a:avLst>
              <a:gd name="adj" fmla="val 16796225"/>
            </a:avLst>
          </a:prstGeom>
          <a:solidFill>
            <a:srgbClr val="B4DAE4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827" y="3628727"/>
            <a:ext cx="153070" cy="1530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288" y="3966121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System Administrator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4288" y="4197697"/>
            <a:ext cx="4486424" cy="326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Oversees master data configurations (Districts, Zones) and extracts multi-district operational analytics for governance reporting.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345"/>
            <a:ext cx="5198418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Domain Model &amp; Conceptual Design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84126"/>
            <a:ext cx="8608963" cy="163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system is built around four core entities forming a coherent object-relational structure that captures all aspects of municipal vehicle management.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7273"/>
            <a:ext cx="3150022" cy="315002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5098" y="1351434"/>
            <a:ext cx="1923380" cy="16571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91696" y="1427113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842793" y="1796653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842793" y="2064544"/>
            <a:ext cx="1667991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 identity fields, assigned security roles, and an explicit association to a home District.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9189" y="1351434"/>
            <a:ext cx="1923455" cy="16571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05861" y="1427113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856884" y="1796653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Vehicle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856884" y="2064544"/>
            <a:ext cx="1668066" cy="8163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Model, color, </a:t>
            </a:r>
            <a:r>
              <a:rPr lang="en-US" sz="8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VehicleType</a:t>
            </a: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enum (CAR, MOTORBIKE), and </a:t>
            </a:r>
            <a:r>
              <a:rPr lang="en-US" sz="8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EngineType</a:t>
            </a: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enum (ICE, ELECTRIC, HYBRID) for environmental auditing.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098" y="3099271"/>
            <a:ext cx="1923380" cy="14938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91696" y="3174950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842793" y="3544491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ParkingPass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842793" y="3812381"/>
            <a:ext cx="1667991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Defines spatial restrictions (Zone) and temporal validity (start/end dates) linked to allowed license plates.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9189" y="3099271"/>
            <a:ext cx="1923455" cy="14938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05861" y="3174950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856884" y="3544491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Violation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856884" y="3812381"/>
            <a:ext cx="1668066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Tracks fine amounts, infraction status, and references the specific officer who generated the data.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U</a:t>
            </a: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ML Class Diagrams — Domain Model Overview</a:t>
            </a:r>
            <a:endParaRPr lang="en-GB" altLang="en-US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 sz="1400"/>
              <a:t>This diagram holds the primary entities of the system. Vehicles holds license plate, model, color and engine type data. Parking pass tracke issue/expiry data, owner, zone and a list of license plates. Violation records timestamp, district, vehicle type, engine type and license plate</a:t>
            </a:r>
            <a:endParaRPr lang="en-GB" altLang="en-US" sz="1400"/>
          </a:p>
          <a:p>
            <a:endParaRPr lang="en-GB" altLang="en-US" sz="1400"/>
          </a:p>
          <a:p>
            <a:endParaRPr lang="en-GB" altLang="en-US" sz="1400"/>
          </a:p>
        </p:txBody>
      </p:sp>
      <p:pic>
        <p:nvPicPr>
          <p:cNvPr id="6" name="Picture 5" descr="-UML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2155825"/>
            <a:ext cx="5681980" cy="2987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2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U</a:t>
            </a:r>
            <a:r>
              <a:rPr lang="en-US" sz="2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ML Class Diagrams — Domain Model Overview</a:t>
            </a:r>
            <a:endParaRPr lang="en-GB" altLang="en-US" sz="28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 sz="1400"/>
              <a:t>This diagram introduces user entity which owns vehicles and purchases parking pass. User attributes username, password, email, fullname,district role and zone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  <p:pic>
        <p:nvPicPr>
          <p:cNvPr id="6" name="Picture 5" descr="UML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774825"/>
            <a:ext cx="6373495" cy="3116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81757"/>
            <a:ext cx="3824139" cy="4208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Use Case Analysis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094556"/>
            <a:ext cx="4722763" cy="6302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system defines three primary use cases that cover the full lifecycle of municipal vehicle management — from citizen onboarding to enforcement reporting.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3214" y="1868686"/>
            <a:ext cx="4486573" cy="2018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0239" y="1954965"/>
            <a:ext cx="785139" cy="121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User Registration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900239" y="2110806"/>
            <a:ext cx="785139" cy="1892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account and verify identity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5892448" y="3469161"/>
            <a:ext cx="789452" cy="121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Register Vehicle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892448" y="3625002"/>
            <a:ext cx="789452" cy="1892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vehicle and buy parking pass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6854458" y="1939866"/>
            <a:ext cx="785139" cy="121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Record Violation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854458" y="2095708"/>
            <a:ext cx="785139" cy="1892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 infraction and generate report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3925119" y="4031531"/>
            <a:ext cx="4722763" cy="6302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use case maps to a distinct set of REST API endpoints and is scoped to specific authorized actors, ensuring role-based access control throughout the system.</a:t>
            </a:r>
            <a:endParaRPr lang="en-US" sz="1050" dirty="0"/>
          </a:p>
        </p:txBody>
      </p:sp>
      <p:pic>
        <p:nvPicPr>
          <p:cNvPr id="13" name="Picture 12" descr="use case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" y="517525"/>
            <a:ext cx="3615690" cy="4361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351"/>
            <a:ext cx="4081909" cy="4208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UC1 – User Registration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013103" y="1255068"/>
            <a:ext cx="1585913" cy="258217"/>
          </a:xfrm>
          <a:prstGeom prst="roundRect">
            <a:avLst>
              <a:gd name="adj" fmla="val 17525"/>
            </a:avLst>
          </a:prstGeom>
          <a:noFill/>
          <a:ln w="4763">
            <a:solidFill>
              <a:srgbClr val="E1C2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8604" y="1300163"/>
            <a:ext cx="1872109" cy="16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 /API/AUTH/REGISTER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13103" y="1564407"/>
            <a:ext cx="2140669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Authorized Actors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3103" y="1902693"/>
            <a:ext cx="2639467" cy="4201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Unregistered Citizens, Unregistered Law Enforcement Personnel, System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103" y="2450753"/>
            <a:ext cx="2140669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Target Resource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13103" y="2789039"/>
            <a:ext cx="3096667" cy="2148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13103" y="3131790"/>
            <a:ext cx="2140669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Goal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3103" y="3470077"/>
            <a:ext cx="2639467" cy="10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 securely enroll new users into the database, assign their primary residential or operational District, and provision role-specific application permissions (</a:t>
            </a: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CITIZEN</a:t>
            </a: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or </a:t>
            </a: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LAW_ENFORCEMENT</a:t>
            </a: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).</a:t>
            </a:r>
            <a:endParaRPr lang="en-US" sz="1050" dirty="0"/>
          </a:p>
        </p:txBody>
      </p:sp>
      <p:pic>
        <p:nvPicPr>
          <p:cNvPr id="12" name="Picture 11" descr="login 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1051560"/>
            <a:ext cx="4882515" cy="4017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1986"/>
            <a:ext cx="7447434" cy="398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UC2 – Register Vehicle &amp; Purchase Parking Pass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232074"/>
            <a:ext cx="1477491" cy="231651"/>
          </a:xfrm>
          <a:prstGeom prst="roundRect">
            <a:avLst>
              <a:gd name="adj" fmla="val 18507"/>
            </a:avLst>
          </a:prstGeom>
          <a:solidFill>
            <a:srgbClr val="EEDDDD"/>
          </a:solidFill>
        </p:spPr>
      </p:sp>
      <p:sp>
        <p:nvSpPr>
          <p:cNvPr id="4" name="Text 2"/>
          <p:cNvSpPr/>
          <p:nvPr/>
        </p:nvSpPr>
        <p:spPr>
          <a:xfrm>
            <a:off x="572616" y="1270322"/>
            <a:ext cx="1781696" cy="1551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AUTHENTICATED CITIZENS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509638"/>
            <a:ext cx="20520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Target Resources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1823740"/>
            <a:ext cx="4800600" cy="198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Vehicle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</a:t>
            </a: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ParkingPass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137246"/>
            <a:ext cx="20520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Goal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2451348"/>
            <a:ext cx="4343400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 link personal transit assets to a citizen's profile and immediately provision a digital parking pass for a designated Zone, allowing up to </a:t>
            </a:r>
            <a:r>
              <a:rPr lang="en-US" sz="10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 license plates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be covered concurrently under a single expiration window.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3341861"/>
            <a:ext cx="2460203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Associated REST Endpoints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3655963"/>
            <a:ext cx="4343400" cy="9152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/api/vehicles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Register a new vehicle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/api/vehicles?userId={id}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Retrieve user's vehicle inventory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/api/passes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Purchase a parking pass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/api/passes?userId={id}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Retrieve active user passes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63654" y="1102891"/>
            <a:ext cx="3680743" cy="3508549"/>
          </a:xfrm>
          <a:prstGeom prst="roundRect">
            <a:avLst>
              <a:gd name="adj" fmla="val 2618"/>
            </a:avLst>
          </a:prstGeom>
          <a:solidFill>
            <a:srgbClr val="E1C2C2"/>
          </a:solidFill>
        </p:spPr>
      </p:sp>
      <p:sp>
        <p:nvSpPr>
          <p:cNvPr id="12" name="Text 10"/>
          <p:cNvSpPr/>
          <p:nvPr/>
        </p:nvSpPr>
        <p:spPr>
          <a:xfrm>
            <a:off x="5191199" y="1217712"/>
            <a:ext cx="20520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Capabilities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9048" y="1552463"/>
            <a:ext cx="191319" cy="19131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05760" y="1546175"/>
            <a:ext cx="1226493" cy="3878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Link vehicles to citizen profiles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3571" y="1552463"/>
            <a:ext cx="191319" cy="1913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90284" y="1546175"/>
            <a:ext cx="1226567" cy="3878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 passes to specific Zones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9048" y="2171142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05760" y="2164854"/>
            <a:ext cx="1226493" cy="3878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Cover up to 4 plates per pass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3571" y="2171142"/>
            <a:ext cx="191319" cy="1913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90284" y="2164854"/>
            <a:ext cx="1226567" cy="3878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Manage temporal validity windows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Vehicles </a:t>
            </a:r>
            <a:r>
              <a:rPr 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Register</a:t>
            </a:r>
            <a:r>
              <a:rPr lang="en-GB" alt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ed</a:t>
            </a:r>
            <a:endParaRPr lang="en-GB" altLang="en-US" dirty="0">
              <a:solidFill>
                <a:srgbClr val="4B6981"/>
              </a:solidFill>
              <a:latin typeface="Playfair Display SemiBold" pitchFamily="34" charset="0"/>
              <a:ea typeface="Playfair Display SemiBold" pitchFamily="34" charset="-122"/>
              <a:cs typeface="Playfair Display SemiBold" pitchFamily="34" charset="-120"/>
              <a:sym typeface="+mn-ea"/>
            </a:endParaRPr>
          </a:p>
        </p:txBody>
      </p:sp>
      <p:pic>
        <p:nvPicPr>
          <p:cNvPr id="3" name="Picture 2" descr="vehic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1454785"/>
            <a:ext cx="8963025" cy="3585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Parking Pass</a:t>
            </a:r>
            <a:r>
              <a:rPr lang="en-GB" alt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 Purchase</a:t>
            </a:r>
            <a:endParaRPr lang="en-GB" altLang="en-US" dirty="0">
              <a:solidFill>
                <a:srgbClr val="4B6981"/>
              </a:solidFill>
              <a:latin typeface="Playfair Display SemiBold" pitchFamily="34" charset="0"/>
              <a:ea typeface="Playfair Display SemiBold" pitchFamily="34" charset="-122"/>
              <a:cs typeface="Playfair Display SemiBold" pitchFamily="34" charset="-120"/>
              <a:sym typeface="+mn-ea"/>
            </a:endParaRPr>
          </a:p>
        </p:txBody>
      </p:sp>
      <p:pic>
        <p:nvPicPr>
          <p:cNvPr id="3" name="Picture 2" descr="pas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0790"/>
            <a:ext cx="8505825" cy="3811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4980"/>
            <a:ext cx="6649120" cy="398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UC3 – Record Violation &amp; Generate Report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83332"/>
            <a:ext cx="860896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Empowers law enforcement officers and administrators to log infractions in real time and compile certified analytical reports.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635621"/>
            <a:ext cx="1902693" cy="1354410"/>
          </a:xfrm>
          <a:prstGeom prst="roundRect">
            <a:avLst>
              <a:gd name="adj" fmla="val 3957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65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8427" y="1767929"/>
            <a:ext cx="15948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Authorized Actors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8427" y="2082031"/>
            <a:ext cx="1638077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Authenticated Law Enforcement Officers, Authenticated Administrators,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3633" y="1635621"/>
            <a:ext cx="1902768" cy="1354410"/>
          </a:xfrm>
          <a:prstGeom prst="roundRect">
            <a:avLst>
              <a:gd name="adj" fmla="val 3957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651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45941" y="1767929"/>
            <a:ext cx="15948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Target Resources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45941" y="2082031"/>
            <a:ext cx="1638151" cy="198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Violation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</a:t>
            </a:r>
            <a:r>
              <a:rPr lang="en-US" sz="1000" dirty="0">
                <a:solidFill>
                  <a:srgbClr val="000000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3104852"/>
            <a:ext cx="3920282" cy="1354410"/>
          </a:xfrm>
          <a:prstGeom prst="roundRect">
            <a:avLst>
              <a:gd name="adj" fmla="val 3957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dist="1651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8427" y="3237161"/>
            <a:ext cx="15948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Goal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8427" y="3551262"/>
            <a:ext cx="3655665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 traffic compliance infractions instantly with automated timestamping, and empower administrators to aggregate municipal infraction data and compile certified, printable analytical reports via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iText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2362" y="1621259"/>
            <a:ext cx="2460203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Associated REST Endpoints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32362" y="1935361"/>
            <a:ext cx="3920282" cy="1497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/api/violations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Record a real-time field infraction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/api/reports/violations?period={p}&amp;groupBy={g}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Query aggregated statistical data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/api/reports/violations/pdf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Stream binary data to download physical PDF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/api/passes/count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Fetch total active system passes counter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2362" y="3561606"/>
            <a:ext cx="3920282" cy="895499"/>
          </a:xfrm>
          <a:prstGeom prst="roundRect">
            <a:avLst>
              <a:gd name="adj" fmla="val 5984"/>
            </a:avLst>
          </a:prstGeom>
          <a:solidFill>
            <a:srgbClr val="B6D6FC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908" y="3747492"/>
            <a:ext cx="159469" cy="12754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46923" y="3708276"/>
            <a:ext cx="3378175" cy="581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Automated timestamping ensures every violation record is legally traceable and audit-ready for municipal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Report</a:t>
            </a:r>
            <a:r>
              <a:rPr lang="en-GB" alt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 Generated</a:t>
            </a:r>
            <a:endParaRPr lang="en-GB" altLang="en-US" dirty="0">
              <a:solidFill>
                <a:srgbClr val="4B6981"/>
              </a:solidFill>
              <a:latin typeface="Playfair Display SemiBold" pitchFamily="34" charset="0"/>
              <a:ea typeface="Playfair Display SemiBold" pitchFamily="34" charset="-122"/>
              <a:cs typeface="Playfair Display SemiBold" pitchFamily="34" charset="-120"/>
              <a:sym typeface="+mn-ea"/>
            </a:endParaRPr>
          </a:p>
        </p:txBody>
      </p:sp>
      <p:pic>
        <p:nvPicPr>
          <p:cNvPr id="3" name="Picture 2" descr="viol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" y="1243330"/>
            <a:ext cx="7780655" cy="3769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86349" y="391939"/>
            <a:ext cx="4800302" cy="816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Architectural Overview: The 3-Tier Pattern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886349" y="1389385"/>
            <a:ext cx="4800302" cy="6025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fully decoupled enterprise architecture separating concerns across three distinct layers — Presentation, Business Logic, and Data Persistence — for scalability, maintainability, and clean separation of responsibilities.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86349" y="2127424"/>
            <a:ext cx="2339876" cy="1554733"/>
          </a:xfrm>
          <a:prstGeom prst="roundRect">
            <a:avLst>
              <a:gd name="adj" fmla="val 3531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65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21782" y="2262857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Presentation Layer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21782" y="2539231"/>
            <a:ext cx="2069009" cy="10042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Frontend Single Page App built with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Angular 19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Manages user views, state transitions, client-side routing, and active UI form validation.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6701" y="2127424"/>
            <a:ext cx="2339950" cy="1554733"/>
          </a:xfrm>
          <a:prstGeom prst="roundRect">
            <a:avLst>
              <a:gd name="adj" fmla="val 3531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651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82135" y="2262857"/>
            <a:ext cx="2069083" cy="408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Application / Business Layer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82135" y="2743349"/>
            <a:ext cx="2069083" cy="8033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Backend REST Services built with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Jakarta EE 10 / JAX-RS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Deploys on WildFly 39. Contains Core Services, EJBs, DAOs, and DTOs.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86349" y="3802633"/>
            <a:ext cx="4800302" cy="948928"/>
          </a:xfrm>
          <a:prstGeom prst="roundRect">
            <a:avLst>
              <a:gd name="adj" fmla="val 5784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dist="1651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21782" y="3938067"/>
            <a:ext cx="1638151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Enterprise Data Layer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21782" y="4214440"/>
            <a:ext cx="4529435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Relational storage powered by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 16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Managed object lifecycle through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Hibernate ORM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seamless persistence.</a:t>
            </a:r>
            <a:endParaRPr lang="en-US" sz="1000" dirty="0"/>
          </a:p>
        </p:txBody>
      </p:sp>
      <p:pic>
        <p:nvPicPr>
          <p:cNvPr id="15" name="Picture 14" descr="layer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" y="0"/>
            <a:ext cx="38290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075" y="324485"/>
            <a:ext cx="2783205" cy="290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REST Endpoints</a:t>
            </a:r>
            <a:endParaRPr lang="en-US" sz="2800" dirty="0">
              <a:solidFill>
                <a:srgbClr val="4B6981"/>
              </a:solidFill>
              <a:latin typeface="Playfair Display SemiBold" pitchFamily="34" charset="0"/>
              <a:ea typeface="Playfair Display SemiBold" pitchFamily="34" charset="-122"/>
              <a:cs typeface="Playfair Display Semi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62298" y="737443"/>
            <a:ext cx="6419404" cy="24645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1000" dirty="0">
              <a:solidFill>
                <a:srgbClr val="6F655D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Resources are identified by URIs representing core system entities. Each endpoint maps to a distinct domain collection, enabling clean, resource-oriented communication across the application.</a:t>
            </a:r>
            <a:endParaRPr lang="en-US" sz="1000" dirty="0">
              <a:solidFill>
                <a:srgbClr val="6F655D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0856" y="1699756"/>
            <a:ext cx="1772581" cy="569030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1639078" y="1785952"/>
            <a:ext cx="977490" cy="138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1639078" y="1975420"/>
            <a:ext cx="1568163" cy="207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collection — manage system accounts and profiles.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0856" y="2320078"/>
            <a:ext cx="1772581" cy="56903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1639078" y="2406274"/>
            <a:ext cx="977490" cy="138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/api/vehicles</a:t>
            </a:r>
            <a:endParaRPr lang="en-US" sz="900" dirty="0"/>
          </a:p>
        </p:txBody>
      </p:sp>
      <p:sp>
        <p:nvSpPr>
          <p:cNvPr id="9" name="Text 5"/>
          <p:cNvSpPr/>
          <p:nvPr>
            <p:custDataLst>
              <p:tags r:id="rId9"/>
            </p:custDataLst>
          </p:nvPr>
        </p:nvSpPr>
        <p:spPr>
          <a:xfrm>
            <a:off x="1639078" y="2595742"/>
            <a:ext cx="1568163" cy="207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Vehicle collection — register and track city vehicles.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0856" y="2940400"/>
            <a:ext cx="1772581" cy="569030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12"/>
            </p:custDataLst>
          </p:nvPr>
        </p:nvSpPr>
        <p:spPr>
          <a:xfrm>
            <a:off x="1639078" y="3026595"/>
            <a:ext cx="977490" cy="138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/api/passes</a:t>
            </a:r>
            <a:endParaRPr lang="en-US" sz="900" dirty="0"/>
          </a:p>
        </p:txBody>
      </p:sp>
      <p:sp>
        <p:nvSpPr>
          <p:cNvPr id="12" name="Text 7"/>
          <p:cNvSpPr/>
          <p:nvPr>
            <p:custDataLst>
              <p:tags r:id="rId13"/>
            </p:custDataLst>
          </p:nvPr>
        </p:nvSpPr>
        <p:spPr>
          <a:xfrm>
            <a:off x="1639078" y="3216063"/>
            <a:ext cx="1568163" cy="207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Parking pass collection — issue and validate parking permits.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0856" y="3560722"/>
            <a:ext cx="1772581" cy="569030"/>
          </a:xfrm>
          <a:prstGeom prst="rect">
            <a:avLst/>
          </a:prstGeom>
        </p:spPr>
      </p:pic>
      <p:sp>
        <p:nvSpPr>
          <p:cNvPr id="14" name="Text 8"/>
          <p:cNvSpPr/>
          <p:nvPr>
            <p:custDataLst>
              <p:tags r:id="rId15"/>
            </p:custDataLst>
          </p:nvPr>
        </p:nvSpPr>
        <p:spPr>
          <a:xfrm>
            <a:off x="1639078" y="3646917"/>
            <a:ext cx="977490" cy="138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/api/violations</a:t>
            </a:r>
            <a:endParaRPr lang="en-US" sz="900" dirty="0"/>
          </a:p>
        </p:txBody>
      </p:sp>
      <p:sp>
        <p:nvSpPr>
          <p:cNvPr id="15" name="Text 9"/>
          <p:cNvSpPr/>
          <p:nvPr>
            <p:custDataLst>
              <p:tags r:id="rId16"/>
            </p:custDataLst>
          </p:nvPr>
        </p:nvSpPr>
        <p:spPr>
          <a:xfrm>
            <a:off x="1639078" y="3836386"/>
            <a:ext cx="1568163" cy="207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Violation collection — record and query enforcement events.</a:t>
            </a:r>
            <a:endParaRPr lang="en-US" sz="700" dirty="0"/>
          </a:p>
        </p:txBody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0856" y="4181043"/>
            <a:ext cx="1772581" cy="569030"/>
          </a:xfrm>
          <a:prstGeom prst="rect">
            <a:avLst/>
          </a:prstGeom>
        </p:spPr>
      </p:pic>
      <p:sp>
        <p:nvSpPr>
          <p:cNvPr id="17" name="Text 10"/>
          <p:cNvSpPr/>
          <p:nvPr>
            <p:custDataLst>
              <p:tags r:id="rId18"/>
            </p:custDataLst>
          </p:nvPr>
        </p:nvSpPr>
        <p:spPr>
          <a:xfrm>
            <a:off x="1639078" y="4267239"/>
            <a:ext cx="977490" cy="138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/api/reports</a:t>
            </a:r>
            <a:endParaRPr lang="en-US" sz="900" dirty="0"/>
          </a:p>
        </p:txBody>
      </p:sp>
      <p:sp>
        <p:nvSpPr>
          <p:cNvPr id="18" name="Text 11"/>
          <p:cNvSpPr/>
          <p:nvPr>
            <p:custDataLst>
              <p:tags r:id="rId19"/>
            </p:custDataLst>
          </p:nvPr>
        </p:nvSpPr>
        <p:spPr>
          <a:xfrm>
            <a:off x="1639078" y="4456707"/>
            <a:ext cx="1568163" cy="207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 collection — generate administrative and analytical outputs.</a:t>
            </a:r>
            <a:endParaRPr lang="en-US" sz="700" dirty="0"/>
          </a:p>
        </p:txBody>
      </p:sp>
      <p:pic>
        <p:nvPicPr>
          <p:cNvPr id="20" name="Picture 19" descr="rest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57370" y="1445260"/>
            <a:ext cx="4140835" cy="35598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  <a:sym typeface="+mn-ea"/>
              </a:rPr>
              <a:t>REST Endpoints</a:t>
            </a:r>
            <a:endParaRPr lang="en-GB" altLang="en-US"/>
          </a:p>
        </p:txBody>
      </p:sp>
      <p:pic>
        <p:nvPicPr>
          <p:cNvPr id="3" name="Picture 2" descr="res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15085"/>
            <a:ext cx="7315200" cy="3352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3044"/>
            <a:ext cx="6678662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HTTP Methods &amp; Resource Operations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33847"/>
            <a:ext cx="8167241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 HTTP verbs define the contract for interacting with each resource. Every operation follows RESTful conventions for predictable, stateless communication.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731243"/>
            <a:ext cx="8167241" cy="2026295"/>
          </a:xfrm>
          <a:prstGeom prst="roundRect">
            <a:avLst>
              <a:gd name="adj" fmla="val 289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817" y="1823145"/>
            <a:ext cx="13993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Method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8789" y="1823145"/>
            <a:ext cx="262064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06044" y="1823145"/>
            <a:ext cx="466248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Example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817" y="2223641"/>
            <a:ext cx="13993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58789" y="2223641"/>
            <a:ext cx="262064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Retrieve resources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06044" y="2223641"/>
            <a:ext cx="4662488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/api/vehicles?userId=5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817" y="2628900"/>
            <a:ext cx="13993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58789" y="2628900"/>
            <a:ext cx="262064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06044" y="2628900"/>
            <a:ext cx="4662488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/api/vehicles</a:t>
            </a: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(with JSON body)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2817" y="3034159"/>
            <a:ext cx="13993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58789" y="3034159"/>
            <a:ext cx="262064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Update resources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06044" y="3034159"/>
            <a:ext cx="4662488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PUT /api/vehicles/12</a:t>
            </a: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(with updated JSON)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817" y="3439418"/>
            <a:ext cx="13993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58789" y="3439418"/>
            <a:ext cx="262064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 resources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06044" y="3439418"/>
            <a:ext cx="4662488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F655D"/>
                </a:solidFill>
                <a:highlight>
                  <a:srgbClr val="F2EDE9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 /api/vehicles/12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8379" y="3912022"/>
            <a:ext cx="8167241" cy="808434"/>
          </a:xfrm>
          <a:prstGeom prst="roundRect">
            <a:avLst>
              <a:gd name="adj" fmla="val 7250"/>
            </a:avLst>
          </a:prstGeom>
          <a:solidFill>
            <a:srgbClr val="B6D6FC"/>
          </a:solidFill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6" y="4121423"/>
            <a:ext cx="174427" cy="13952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41859" y="4084216"/>
            <a:ext cx="757423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endpoints return standard HTTP status codes (200, 201, 400, 404, 500) to communicate operation outcomes clearly to the frontend client.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419" y="404589"/>
            <a:ext cx="3856040" cy="287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Technical Implementation Stack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6419" y="812304"/>
            <a:ext cx="8608599" cy="121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comprehensive overview of the languages, frameworks, persistence providers, build tools, and backend design patterns powering the system.</a:t>
            </a:r>
            <a:endParaRPr lang="en-US" sz="715" dirty="0"/>
          </a:p>
        </p:txBody>
      </p:sp>
      <p:sp>
        <p:nvSpPr>
          <p:cNvPr id="4" name="Shape 2"/>
          <p:cNvSpPr/>
          <p:nvPr/>
        </p:nvSpPr>
        <p:spPr>
          <a:xfrm>
            <a:off x="496419" y="1068586"/>
            <a:ext cx="1082996" cy="152549"/>
          </a:xfrm>
          <a:prstGeom prst="roundRect">
            <a:avLst>
              <a:gd name="adj" fmla="val 20296"/>
            </a:avLst>
          </a:prstGeom>
          <a:solidFill>
            <a:srgbClr val="EEDDDD"/>
          </a:solidFill>
        </p:spPr>
      </p:sp>
      <p:sp>
        <p:nvSpPr>
          <p:cNvPr id="5" name="Text 3"/>
          <p:cNvSpPr/>
          <p:nvPr/>
        </p:nvSpPr>
        <p:spPr>
          <a:xfrm>
            <a:off x="551633" y="1096193"/>
            <a:ext cx="1429756" cy="97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6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LANGUAGE &amp; FRAMEWORK</a:t>
            </a:r>
            <a:endParaRPr lang="en-US" sz="565" dirty="0"/>
          </a:p>
        </p:txBody>
      </p:sp>
      <p:sp>
        <p:nvSpPr>
          <p:cNvPr id="6" name="Text 4"/>
          <p:cNvSpPr/>
          <p:nvPr/>
        </p:nvSpPr>
        <p:spPr>
          <a:xfrm>
            <a:off x="496419" y="1245022"/>
            <a:ext cx="2106684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Backend: Java 17 + Jakarta EE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419" y="1448842"/>
            <a:ext cx="3963343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Java 17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alongside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Jakarta EE 10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APIs —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JAX-RS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REST,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CDI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dependency injection, and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JPA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persistence abstraction.</a:t>
            </a:r>
            <a:endParaRPr lang="en-US" sz="715" dirty="0"/>
          </a:p>
        </p:txBody>
      </p:sp>
      <p:sp>
        <p:nvSpPr>
          <p:cNvPr id="8" name="Text 6"/>
          <p:cNvSpPr/>
          <p:nvPr/>
        </p:nvSpPr>
        <p:spPr>
          <a:xfrm>
            <a:off x="496419" y="1751856"/>
            <a:ext cx="1609015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Frontend Ecosystem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419" y="1955676"/>
            <a:ext cx="3963343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TypeScript, Angular 19, HTML5, CSS3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RxJS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reactive, asynchronous event streaming across the UI layer.</a:t>
            </a:r>
            <a:endParaRPr lang="en-US" sz="715" dirty="0"/>
          </a:p>
        </p:txBody>
      </p:sp>
      <p:sp>
        <p:nvSpPr>
          <p:cNvPr id="10" name="Shape 8"/>
          <p:cNvSpPr/>
          <p:nvPr/>
        </p:nvSpPr>
        <p:spPr>
          <a:xfrm>
            <a:off x="4689249" y="1068586"/>
            <a:ext cx="915419" cy="152549"/>
          </a:xfrm>
          <a:prstGeom prst="roundRect">
            <a:avLst>
              <a:gd name="adj" fmla="val 20296"/>
            </a:avLst>
          </a:prstGeom>
          <a:solidFill>
            <a:srgbClr val="EEDDDD"/>
          </a:solidFill>
        </p:spPr>
      </p:sp>
      <p:sp>
        <p:nvSpPr>
          <p:cNvPr id="11" name="Text 9"/>
          <p:cNvSpPr/>
          <p:nvPr/>
        </p:nvSpPr>
        <p:spPr>
          <a:xfrm>
            <a:off x="4744462" y="1096193"/>
            <a:ext cx="1262180" cy="97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6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PERSISTENCE &amp; BUILD</a:t>
            </a:r>
            <a:endParaRPr lang="en-US" sz="565" dirty="0"/>
          </a:p>
        </p:txBody>
      </p:sp>
      <p:sp>
        <p:nvSpPr>
          <p:cNvPr id="12" name="Text 10"/>
          <p:cNvSpPr/>
          <p:nvPr/>
        </p:nvSpPr>
        <p:spPr>
          <a:xfrm>
            <a:off x="4689249" y="1245022"/>
            <a:ext cx="1609015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Persistence Provider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9249" y="1448842"/>
            <a:ext cx="3963343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Hibernate 6.4.4.Final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managing Object-Relational mapping to the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database with full lifecycle control.</a:t>
            </a:r>
            <a:endParaRPr lang="en-US" sz="715" dirty="0"/>
          </a:p>
        </p:txBody>
      </p:sp>
      <p:sp>
        <p:nvSpPr>
          <p:cNvPr id="14" name="Text 12"/>
          <p:cNvSpPr/>
          <p:nvPr/>
        </p:nvSpPr>
        <p:spPr>
          <a:xfrm>
            <a:off x="4689249" y="1751856"/>
            <a:ext cx="2312508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Dependency &amp; Server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9249" y="1955676"/>
            <a:ext cx="3963343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Apache Maven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backend builds,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npm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frontend pipelines, and </a:t>
            </a:r>
            <a:r>
              <a:rPr lang="en-US" sz="715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WildFly Application Server</a:t>
            </a: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runtime hosting.</a:t>
            </a:r>
            <a:endParaRPr lang="en-US" sz="715" dirty="0"/>
          </a:p>
        </p:txBody>
      </p:sp>
      <p:sp>
        <p:nvSpPr>
          <p:cNvPr id="16" name="Text 14"/>
          <p:cNvSpPr/>
          <p:nvPr/>
        </p:nvSpPr>
        <p:spPr>
          <a:xfrm>
            <a:off x="496419" y="2342555"/>
            <a:ext cx="3361869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25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Backend Design Patterns &amp; Layers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496419" y="2662759"/>
            <a:ext cx="8608599" cy="121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clean separation of concerns is enforced through a layered backend architecture, ensuring each component has a single, well-defined responsibility.</a:t>
            </a:r>
            <a:endParaRPr lang="en-US" sz="715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419" y="2851696"/>
            <a:ext cx="4075705" cy="36857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8541" y="3280097"/>
            <a:ext cx="1151827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REST Resources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8541" y="3459956"/>
            <a:ext cx="3891461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Exposes API endpoints, intercepts HTTP JSON payloads, and handles initial protocol status codes.</a:t>
            </a:r>
            <a:endParaRPr lang="en-US" sz="715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124" y="2851696"/>
            <a:ext cx="4075705" cy="36857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64246" y="3280097"/>
            <a:ext cx="1151827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DTOs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664246" y="3459956"/>
            <a:ext cx="3891461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Structural boundary objects preventing database entities from leaking directly to frontend clients.</a:t>
            </a:r>
            <a:endParaRPr lang="en-US" sz="715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19" y="3795266"/>
            <a:ext cx="4075705" cy="3685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88541" y="4223668"/>
            <a:ext cx="1151827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88541" y="4403527"/>
            <a:ext cx="3891461" cy="121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Houses core business rules, conditional checks, and controls transaction bounds.</a:t>
            </a:r>
            <a:endParaRPr lang="en-US" sz="715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124" y="3795266"/>
            <a:ext cx="4075705" cy="36857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64246" y="4223668"/>
            <a:ext cx="1151827" cy="143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DAOs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664246" y="4403527"/>
            <a:ext cx="3891461" cy="2431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5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Encapsulates native EntityManager operations, abstracting relational queries from business logic.</a:t>
            </a:r>
            <a:endParaRPr lang="en-US" sz="71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307099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Technical Implementation Stack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0476" y="1069484"/>
            <a:ext cx="141759" cy="141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2566" y="511522"/>
            <a:ext cx="978098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Language &amp; Framework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312566" y="643458"/>
            <a:ext cx="2237259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Java 17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alongside </a:t>
            </a: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Jakarta EE 10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APIs — JAX-RS for REST, CDI for dependency injection, and JPA for persistence abstraction.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101" y="487189"/>
            <a:ext cx="141759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0136" y="511522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Frontend Ecosystem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780136" y="643458"/>
            <a:ext cx="2237333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TypeScript, Angular 19, HTML5, CSS3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</a:t>
            </a: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RxJS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reactive, asynchronous event streaming across the UI layer.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6531" y="884411"/>
            <a:ext cx="141759" cy="1417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12566" y="908745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Persistence Provider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2312566" y="1040681"/>
            <a:ext cx="2237259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Hibernate 6.4.4.Final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managing Object-Relational mapping to the </a:t>
            </a: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database with full lifecycle control.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101" y="884411"/>
            <a:ext cx="141759" cy="1417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80136" y="908745"/>
            <a:ext cx="142726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Dependency &amp; Server Management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780136" y="1040681"/>
            <a:ext cx="2237333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Apache Maven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backend builds, </a:t>
            </a: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npm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frontend pipelines, and </a:t>
            </a:r>
            <a:r>
              <a:rPr lang="en-US" sz="5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WildFly Application Server</a:t>
            </a: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runtime hosting.</a:t>
            </a:r>
            <a:endParaRPr lang="en-US" sz="550" dirty="0"/>
          </a:p>
        </p:txBody>
      </p:sp>
      <p:sp>
        <p:nvSpPr>
          <p:cNvPr id="15" name="Shape 9"/>
          <p:cNvSpPr/>
          <p:nvPr/>
        </p:nvSpPr>
        <p:spPr>
          <a:xfrm>
            <a:off x="2126531" y="1268313"/>
            <a:ext cx="4890939" cy="5283"/>
          </a:xfrm>
          <a:prstGeom prst="rect">
            <a:avLst/>
          </a:prstGeom>
          <a:solidFill>
            <a:srgbClr val="6F655D">
              <a:alpha val="50000"/>
            </a:srgbClr>
          </a:solidFill>
        </p:spPr>
      </p:sp>
      <p:sp>
        <p:nvSpPr>
          <p:cNvPr id="16" name="Text 10"/>
          <p:cNvSpPr/>
          <p:nvPr/>
        </p:nvSpPr>
        <p:spPr>
          <a:xfrm>
            <a:off x="2126531" y="1344439"/>
            <a:ext cx="2690887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Backend Design Patterns &amp; Layers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2126531" y="1574750"/>
            <a:ext cx="4890939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clean separation of concerns is enforced through a layered backend architecture, ensuring each component has a single, well-defined responsibility.</a:t>
            </a:r>
            <a:endParaRPr lang="en-US" sz="5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531" y="1784672"/>
            <a:ext cx="2445469" cy="283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197373" y="2103611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REST Resources</a:t>
            </a:r>
            <a:endParaRPr lang="en-US" sz="650" dirty="0"/>
          </a:p>
        </p:txBody>
      </p:sp>
      <p:sp>
        <p:nvSpPr>
          <p:cNvPr id="20" name="Text 13"/>
          <p:cNvSpPr/>
          <p:nvPr/>
        </p:nvSpPr>
        <p:spPr>
          <a:xfrm>
            <a:off x="2197373" y="2235547"/>
            <a:ext cx="2303785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Exposes API endpoints, intercepts HTTP JSON payloads, and handles initial protocol status codes.</a:t>
            </a:r>
            <a:endParaRPr lang="en-US" sz="5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784672"/>
            <a:ext cx="2445469" cy="28351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42842" y="2103611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DTOs</a:t>
            </a:r>
            <a:endParaRPr lang="en-US" sz="650" dirty="0"/>
          </a:p>
        </p:txBody>
      </p:sp>
      <p:sp>
        <p:nvSpPr>
          <p:cNvPr id="23" name="Text 15"/>
          <p:cNvSpPr/>
          <p:nvPr/>
        </p:nvSpPr>
        <p:spPr>
          <a:xfrm>
            <a:off x="4642842" y="2235547"/>
            <a:ext cx="2303785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Structural boundary objects preventing database entities from leaking directly to frontend clients.</a:t>
            </a:r>
            <a:endParaRPr lang="en-US" sz="5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6531" y="2476500"/>
            <a:ext cx="2445469" cy="28351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197373" y="2795439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Service Layer</a:t>
            </a:r>
            <a:endParaRPr lang="en-US" sz="650" dirty="0"/>
          </a:p>
        </p:txBody>
      </p:sp>
      <p:sp>
        <p:nvSpPr>
          <p:cNvPr id="26" name="Text 17"/>
          <p:cNvSpPr/>
          <p:nvPr/>
        </p:nvSpPr>
        <p:spPr>
          <a:xfrm>
            <a:off x="2197373" y="2927375"/>
            <a:ext cx="2303785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Houses core business rules, conditional checks, and controls transaction bounds.</a:t>
            </a:r>
            <a:endParaRPr lang="en-US" sz="5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476500"/>
            <a:ext cx="2445469" cy="28351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642842" y="2795439"/>
            <a:ext cx="885974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DAOs</a:t>
            </a:r>
            <a:endParaRPr lang="en-US" sz="650" dirty="0"/>
          </a:p>
        </p:txBody>
      </p:sp>
      <p:sp>
        <p:nvSpPr>
          <p:cNvPr id="29" name="Text 19"/>
          <p:cNvSpPr/>
          <p:nvPr/>
        </p:nvSpPr>
        <p:spPr>
          <a:xfrm>
            <a:off x="4642842" y="2927375"/>
            <a:ext cx="2303785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Encapsulates native EntityManager operations, abstracting relational queries from business logic.</a:t>
            </a:r>
            <a:endParaRPr lang="en-US" sz="550" dirty="0"/>
          </a:p>
        </p:txBody>
      </p:sp>
      <p:sp>
        <p:nvSpPr>
          <p:cNvPr id="30" name="Shape 20"/>
          <p:cNvSpPr/>
          <p:nvPr/>
        </p:nvSpPr>
        <p:spPr>
          <a:xfrm>
            <a:off x="2126531" y="3225850"/>
            <a:ext cx="4890939" cy="5283"/>
          </a:xfrm>
          <a:prstGeom prst="rect">
            <a:avLst/>
          </a:prstGeom>
          <a:solidFill>
            <a:srgbClr val="6F655D">
              <a:alpha val="50000"/>
            </a:srgbClr>
          </a:solidFill>
        </p:spPr>
      </p:sp>
      <p:sp>
        <p:nvSpPr>
          <p:cNvPr id="39" name="Text 27"/>
          <p:cNvSpPr/>
          <p:nvPr/>
        </p:nvSpPr>
        <p:spPr>
          <a:xfrm>
            <a:off x="2206898" y="4835500"/>
            <a:ext cx="2198266" cy="2551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1" name="Text 28"/>
          <p:cNvSpPr/>
          <p:nvPr/>
        </p:nvSpPr>
        <p:spPr>
          <a:xfrm>
            <a:off x="3252862" y="5253410"/>
            <a:ext cx="106263" cy="132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30"/>
          <p:cNvSpPr/>
          <p:nvPr/>
        </p:nvSpPr>
        <p:spPr>
          <a:xfrm>
            <a:off x="2206898" y="5610151"/>
            <a:ext cx="2198266" cy="2551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8654" y="540767"/>
            <a:ext cx="5272236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 &amp; Technical Takeaways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18654" y="1065907"/>
            <a:ext cx="4877693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project successfully delivered a fully operational, compliant 3-Tier Enterprise application meeting all architectural and functional requirements.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8654" y="1532111"/>
            <a:ext cx="2388394" cy="1661220"/>
          </a:xfrm>
          <a:prstGeom prst="roundRect">
            <a:avLst>
              <a:gd name="adj" fmla="val 3024"/>
            </a:avLst>
          </a:prstGeom>
          <a:solidFill>
            <a:srgbClr val="F0DEDC"/>
          </a:solidFill>
          <a:ln w="4763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2999" y="1656457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E1C2C2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672" y="1755130"/>
            <a:ext cx="161479" cy="1614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2999" y="2116187"/>
            <a:ext cx="1583159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Full 3-Tier Compliance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2999" y="2363539"/>
            <a:ext cx="2139702" cy="7054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Successfully implemented a fully operational, compliant 3-Tier Enterprise application with clean layer separation.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907953" y="1532111"/>
            <a:ext cx="2388394" cy="1661220"/>
          </a:xfrm>
          <a:prstGeom prst="roundRect">
            <a:avLst>
              <a:gd name="adj" fmla="val 3024"/>
            </a:avLst>
          </a:prstGeom>
          <a:solidFill>
            <a:srgbClr val="F0DEDC"/>
          </a:solidFill>
          <a:ln w="4763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32299" y="1656457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CCC4EC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0972" y="1755130"/>
            <a:ext cx="161479" cy="1614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2299" y="2116187"/>
            <a:ext cx="164611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End-to-End Type Safety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032299" y="2363539"/>
            <a:ext cx="2139702" cy="7054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Maintained absolute type-safety from backend Java definitions to frontend TypeScript data models via consistent DTO schemas.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18654" y="3294236"/>
            <a:ext cx="4877693" cy="1308497"/>
          </a:xfrm>
          <a:prstGeom prst="roundRect">
            <a:avLst>
              <a:gd name="adj" fmla="val 3839"/>
            </a:avLst>
          </a:prstGeom>
          <a:solidFill>
            <a:srgbClr val="F0DEDC"/>
          </a:solidFill>
          <a:ln w="4763">
            <a:solidFill>
              <a:srgbClr val="B4DAE4"/>
            </a:solidFill>
            <a:prstDash val="solid"/>
          </a:ln>
          <a:effectLst>
            <a:outerShdw dist="1524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2999" y="3418582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B4DAE4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672" y="3517255"/>
            <a:ext cx="161479" cy="16147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999" y="3878312"/>
            <a:ext cx="1515517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Cross-Origin Security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2999" y="4125664"/>
            <a:ext cx="462900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Ensured complete security across boundaries by managing CORS rules between the separate WildFly and Angular server contexts.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3622"/>
            <a:ext cx="6519416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Takeaways: Architectural Milestones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2959"/>
            <a:ext cx="822930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foundational pillars define the architectural success of this enterprise system, each representing a deliberate engineering decision that ensures long-term reliability and scalability.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590154"/>
            <a:ext cx="1371526" cy="939403"/>
          </a:xfrm>
          <a:prstGeom prst="roundRect">
            <a:avLst>
              <a:gd name="adj" fmla="val 5843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6510" dir="2700000" algn="bl" rotWithShape="0">
              <a:srgbClr val="C7A8A8">
                <a:alpha val="10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247" y="1967954"/>
            <a:ext cx="183728" cy="183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59546" y="1720825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59546" y="1997199"/>
            <a:ext cx="6596435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Implemented atomic transactions and referential integrity using </a:t>
            </a:r>
            <a:r>
              <a:rPr lang="en-US" sz="10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JTA</a:t>
            </a: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foreign key constraints across all relational entities.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4210" y="2523604"/>
            <a:ext cx="6727106" cy="7144"/>
          </a:xfrm>
          <a:prstGeom prst="roundRect">
            <a:avLst>
              <a:gd name="adj" fmla="val 768345"/>
            </a:avLst>
          </a:prstGeom>
          <a:solidFill>
            <a:srgbClr val="E1C2C2"/>
          </a:solidFill>
        </p:spPr>
      </p:sp>
      <p:sp>
        <p:nvSpPr>
          <p:cNvPr id="9" name="Shape 6"/>
          <p:cNvSpPr/>
          <p:nvPr/>
        </p:nvSpPr>
        <p:spPr>
          <a:xfrm>
            <a:off x="457349" y="2594893"/>
            <a:ext cx="2743051" cy="939403"/>
          </a:xfrm>
          <a:prstGeom prst="roundRect">
            <a:avLst>
              <a:gd name="adj" fmla="val 5843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6510" dir="2700000" algn="bl" rotWithShape="0">
              <a:srgbClr val="B2AAD2">
                <a:alpha val="10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6973" y="2972693"/>
            <a:ext cx="183728" cy="183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1071" y="2725564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RESTful Principles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331071" y="3001938"/>
            <a:ext cx="5224909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Achieved stateless, resource-oriented communication with standard HTTP status codes and clean URI design across all endpoints.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65736" y="3528343"/>
            <a:ext cx="5355580" cy="7144"/>
          </a:xfrm>
          <a:prstGeom prst="roundRect">
            <a:avLst>
              <a:gd name="adj" fmla="val 768345"/>
            </a:avLst>
          </a:prstGeom>
          <a:solidFill>
            <a:srgbClr val="CCC4EC"/>
          </a:solidFill>
        </p:spPr>
      </p:sp>
      <p:sp>
        <p:nvSpPr>
          <p:cNvPr id="14" name="Shape 10"/>
          <p:cNvSpPr/>
          <p:nvPr/>
        </p:nvSpPr>
        <p:spPr>
          <a:xfrm>
            <a:off x="457349" y="3599631"/>
            <a:ext cx="4114651" cy="1140247"/>
          </a:xfrm>
          <a:prstGeom prst="roundRect">
            <a:avLst>
              <a:gd name="adj" fmla="val 4814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dist="16510" dir="2700000" algn="bl" rotWithShape="0">
              <a:srgbClr val="9AC0CA">
                <a:alpha val="10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2773" y="4077891"/>
            <a:ext cx="183728" cy="1837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2671" y="3730303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3-Tier Architecture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02671" y="4006676"/>
            <a:ext cx="3853309" cy="6025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Successfully decoupled Presentation, Business, and Persistence layers — enabling independent scaling and maintainability.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349" y="478929"/>
            <a:ext cx="4800302" cy="816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Added Value: Real-World &amp; Policy Impact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57349" y="1476375"/>
            <a:ext cx="480030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Beyond technical achievement, the system delivers measurable real-world impact for municipal enforcement operations and environmental policy goals.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349" y="2013570"/>
            <a:ext cx="4800302" cy="2650927"/>
          </a:xfrm>
          <a:prstGeom prst="roundRect">
            <a:avLst>
              <a:gd name="adj" fmla="val 2071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65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2111" y="2018333"/>
            <a:ext cx="2395389" cy="1722388"/>
          </a:xfrm>
          <a:prstGeom prst="roundRect">
            <a:avLst>
              <a:gd name="adj" fmla="val 3187"/>
            </a:avLst>
          </a:prstGeom>
          <a:solidFill>
            <a:srgbClr val="F0DEDC"/>
          </a:solidFill>
        </p:spPr>
      </p:sp>
      <p:sp>
        <p:nvSpPr>
          <p:cNvPr id="7" name="Text 4"/>
          <p:cNvSpPr/>
          <p:nvPr/>
        </p:nvSpPr>
        <p:spPr>
          <a:xfrm>
            <a:off x="582588" y="2138809"/>
            <a:ext cx="1795463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Real-Time Enforcement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2588" y="2415183"/>
            <a:ext cx="1973759" cy="10042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Drastically reduced violation verification time for field officers, enabling faster, more accurate enforcement decisions on the ground.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57500" y="2018030"/>
            <a:ext cx="2108835" cy="1722120"/>
          </a:xfrm>
          <a:prstGeom prst="rect">
            <a:avLst/>
          </a:prstGeom>
          <a:solidFill>
            <a:srgbClr val="F0DEDC"/>
          </a:solidFill>
        </p:spPr>
      </p:sp>
      <p:sp>
        <p:nvSpPr>
          <p:cNvPr id="10" name="Shape 7"/>
          <p:cNvSpPr/>
          <p:nvPr/>
        </p:nvSpPr>
        <p:spPr>
          <a:xfrm>
            <a:off x="2857500" y="2018333"/>
            <a:ext cx="14288" cy="1722388"/>
          </a:xfrm>
          <a:prstGeom prst="roundRect">
            <a:avLst>
              <a:gd name="adj" fmla="val 384173"/>
            </a:avLst>
          </a:prstGeom>
          <a:solidFill>
            <a:srgbClr val="B2AAD2"/>
          </a:solidFill>
        </p:spPr>
      </p:sp>
      <p:sp>
        <p:nvSpPr>
          <p:cNvPr id="11" name="Text 8"/>
          <p:cNvSpPr/>
          <p:nvPr/>
        </p:nvSpPr>
        <p:spPr>
          <a:xfrm>
            <a:off x="3158654" y="2138809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Eco-Auditing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158654" y="2415183"/>
            <a:ext cx="1973759" cy="1205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Built-in support for environmental policy through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 Type classification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enabling the city to track and regulate combustion engine activity in protected zones.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94161" y="2716188"/>
            <a:ext cx="326678" cy="326678"/>
          </a:xfrm>
          <a:prstGeom prst="roundRect">
            <a:avLst>
              <a:gd name="adj" fmla="val 16803"/>
            </a:avLst>
          </a:prstGeom>
          <a:solidFill>
            <a:srgbClr val="FFFAF6"/>
          </a:solidFill>
          <a:ln w="14288">
            <a:solidFill>
              <a:srgbClr val="B2AAD2"/>
            </a:solidFill>
            <a:prstDash val="solid"/>
          </a:ln>
          <a:effectLst>
            <a:outerShdw dist="16510" dir="2700000" algn="bl" rotWithShape="0">
              <a:srgbClr val="B2AAD2">
                <a:alpha val="10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5793" y="2797820"/>
            <a:ext cx="163339" cy="16333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2111" y="3740721"/>
            <a:ext cx="4790777" cy="919014"/>
          </a:xfrm>
          <a:prstGeom prst="rect">
            <a:avLst/>
          </a:prstGeom>
          <a:solidFill>
            <a:srgbClr val="F0DEDC"/>
          </a:solidFill>
        </p:spPr>
      </p:sp>
      <p:sp>
        <p:nvSpPr>
          <p:cNvPr id="16" name="Shape 12"/>
          <p:cNvSpPr/>
          <p:nvPr/>
        </p:nvSpPr>
        <p:spPr>
          <a:xfrm>
            <a:off x="462111" y="3740721"/>
            <a:ext cx="4790777" cy="14288"/>
          </a:xfrm>
          <a:prstGeom prst="roundRect">
            <a:avLst>
              <a:gd name="adj" fmla="val 384173"/>
            </a:avLst>
          </a:prstGeom>
          <a:solidFill>
            <a:srgbClr val="9AC0CA"/>
          </a:solidFill>
        </p:spPr>
      </p:sp>
      <p:sp>
        <p:nvSpPr>
          <p:cNvPr id="17" name="Text 13"/>
          <p:cNvSpPr/>
          <p:nvPr/>
        </p:nvSpPr>
        <p:spPr>
          <a:xfrm>
            <a:off x="582588" y="3861197"/>
            <a:ext cx="171442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Professional Reporting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82588" y="4137571"/>
            <a:ext cx="4369147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Dynamic PDF generation via </a:t>
            </a:r>
            <a:r>
              <a:rPr lang="en-US" sz="10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iText</a:t>
            </a: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produces official, tamper-proof municipal documentation suitable for police records and legal archives.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65745"/>
            <a:ext cx="1313185" cy="212824"/>
          </a:xfrm>
          <a:prstGeom prst="roundRect">
            <a:avLst>
              <a:gd name="adj" fmla="val 18885"/>
            </a:avLst>
          </a:prstGeom>
          <a:solidFill>
            <a:srgbClr val="EEDDDD"/>
          </a:solidFill>
        </p:spPr>
      </p:sp>
      <p:sp>
        <p:nvSpPr>
          <p:cNvPr id="3" name="Text 1"/>
          <p:cNvSpPr/>
          <p:nvPr/>
        </p:nvSpPr>
        <p:spPr>
          <a:xfrm>
            <a:off x="516954" y="401613"/>
            <a:ext cx="1626915" cy="1410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IMPROVEMENTS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18902"/>
            <a:ext cx="3447604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Future Roadmap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45219" y="1144042"/>
            <a:ext cx="8253487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next phase of development focuses on three critical pillars: hardening security, enabling seamless payments, and delivering real-time communication across the platform.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4632" y="2088654"/>
            <a:ext cx="2504405" cy="119583"/>
          </a:xfrm>
          <a:prstGeom prst="roundRect">
            <a:avLst>
              <a:gd name="adj" fmla="val 42012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5219" y="1969071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888" y="2058814"/>
            <a:ext cx="179412" cy="1794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4803" y="2428801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Security Hardening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4803" y="2676153"/>
            <a:ext cx="2444725" cy="1234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Implementing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token-based JWT authentication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ensure secure, stateless session management across all endpoints. Password storage will be fortified using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BCrypt hashing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protecting user credentials against brute-force and rainbow table attacks.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09429" y="1909242"/>
            <a:ext cx="2504405" cy="119583"/>
          </a:xfrm>
          <a:prstGeom prst="roundRect">
            <a:avLst>
              <a:gd name="adj" fmla="val 42012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30017" y="1789658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9686" y="1879402"/>
            <a:ext cx="179412" cy="1794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49600" y="2249388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Gateway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49600" y="2496741"/>
            <a:ext cx="2444725" cy="1058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Integration with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Stripe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PayPal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enable real-time parking pass transactions. Users will be able to purchase, renew, and manage passes seamlessly within the platform, with full support for secure checkout flows and transaction history.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4227" y="1729829"/>
            <a:ext cx="2504405" cy="119583"/>
          </a:xfrm>
          <a:prstGeom prst="roundRect">
            <a:avLst>
              <a:gd name="adj" fmla="val 42012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dist="1524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14814" y="1610246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dist="15240" dir="2700000" algn="bl" rotWithShape="0">
              <a:srgbClr val="9AC0CA">
                <a:alpha val="10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4483" y="1699989"/>
            <a:ext cx="179412" cy="1794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34398" y="2069976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Live Notifications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34398" y="2317328"/>
            <a:ext cx="2444725" cy="1058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Leveraging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WebSockets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push instant alerts to enforcement officers the moment a violation is detected. This eliminates polling delays and ensures officers receive </a:t>
            </a: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real-time, actionable intelligence</a:t>
            </a: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directly to their devices.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45219" y="4143747"/>
            <a:ext cx="8253487" cy="634008"/>
          </a:xfrm>
          <a:prstGeom prst="roundRect">
            <a:avLst>
              <a:gd name="adj" fmla="val 7924"/>
            </a:avLst>
          </a:prstGeom>
          <a:solidFill>
            <a:srgbClr val="B6D6FC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03" y="4317057"/>
            <a:ext cx="149498" cy="1195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884" y="4274493"/>
            <a:ext cx="7745239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enhancements collectively elevate the platform from a functional prototype to a production-ready, enterprise-grade parking management system.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2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3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4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5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6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7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8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9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0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1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2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3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4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ags/tag15.xml><?xml version="1.0" encoding="utf-8"?>
<p:tagLst xmlns:p="http://schemas.openxmlformats.org/presentationml/2006/main">
  <p:tag name="KSO_WM_DIAGRAM_VIRTUALLY_FRAME" val="{&quot;height&quot;:240.1824409448819,&quot;left&quot;:106.51755905511811,&quot;top&quot;:133.83905511811022,&quot;width&quot;:166.04299212598423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13515</Words>
  <Application>WPS Presentation</Application>
  <PresentationFormat>On-screen Show (16:9)</PresentationFormat>
  <Paragraphs>441</Paragraphs>
  <Slides>23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SimSun</vt:lpstr>
      <vt:lpstr>Wingdings</vt:lpstr>
      <vt:lpstr>Playfair Display SemiBold</vt:lpstr>
      <vt:lpstr>Playfair Display SemiBold</vt:lpstr>
      <vt:lpstr>Playfair Display SemiBold</vt:lpstr>
      <vt:lpstr>Public Sans</vt:lpstr>
      <vt:lpstr>Public Sans</vt:lpstr>
      <vt:lpstr>Public Sans</vt:lpstr>
      <vt:lpstr>Consolas</vt:lpstr>
      <vt:lpstr>Consolas</vt:lpstr>
      <vt:lpstr>Consolas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  <vt:lpstr>PowerPoint 演示文稿</vt:lpstr>
      <vt:lpstr>PowerPoint 演示文稿</vt:lpstr>
      <vt:lpstr>UML Class Diagrams — Domain Model Overview</vt:lpstr>
      <vt:lpstr>UML Class Diagrams — Domain Model Overview</vt:lpstr>
      <vt:lpstr>PowerPoint 演示文稿</vt:lpstr>
      <vt:lpstr>PowerPoint 演示文稿</vt:lpstr>
      <vt:lpstr>PowerPoint 演示文稿</vt:lpstr>
      <vt:lpstr>Vehicles Registered</vt:lpstr>
      <vt:lpstr>Parking Pass Purchase</vt:lpstr>
      <vt:lpstr>PowerPoint 演示文稿</vt:lpstr>
      <vt:lpstr>Report Generated</vt:lpstr>
      <vt:lpstr>PowerPoint 演示文稿</vt:lpstr>
      <vt:lpstr>PowerPoint 演示文稿</vt:lpstr>
      <vt:lpstr>REST Endpoints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Essa Janneh</cp:lastModifiedBy>
  <cp:revision>12</cp:revision>
  <dcterms:created xsi:type="dcterms:W3CDTF">2026-05-30T20:20:00Z</dcterms:created>
  <dcterms:modified xsi:type="dcterms:W3CDTF">2026-06-08T21:25:14Z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4714383FFE124717B6A14F76DF1BFC8A_12</vt:lpwstr>
  </property>
  <property fmtid="{D5CDD505-2E9C-101B-9397-08002B2CF9AE}" pid="3" name="KSOProductBuildVer">
    <vt:lpwstr>2057-12.2.0.23202</vt:lpwstr>
  </property>
</Properties>
</file>